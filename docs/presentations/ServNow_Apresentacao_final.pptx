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200" d="100"/>
          <a:sy n="200" d="100"/>
        </p:scale>
        <p:origin x="654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546B3-4FEE-704D-8288-98CC1053EB0A}" type="datetimeFigureOut">
              <a:rPr lang="pt-BR"/>
              <a:t>29/06/2026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571172-AE22-714D-AAFC-A3165BE04F1A}" type="slidenum">
              <a:rPr lang="pt-BR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4632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 a todos. Hoje vamos apresentar o ServNow, o projeto que desenvolvemos ao longo do semestre: uma plataforma digital para conectar clientes a prestadores de serviços residenciais. Vou contar com vocês para acompanhar do contexto do problema até a solução implementada.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Vamos seguir uma linha do tempo natural: por que o ServNow existe, como chegamos ao desenho da solução, como ela foi construída tecnicamente, como ela funciona na prática para quem usa, e o que aprendemos com os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contratação de serviços residenciais no Brasil ainda é, na maior parte das vezes, informal. Isso gera três problemas centrais: a comunicação acontece em canais não estruturados, não existe padronização de preços e não há nenhum mecanismo de confiança ou segurança no momento do atendimento.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Diante desse cenário, o objetivo do ServNow é centralizar toda a jornada de contratação em uma única plataforma, trazendo praticidade e segurança para o cliente, e visibilidade e organização para o prestador.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processo de descoberta partiu de um diagnóstico da jornada atual de clientes e prestadores. A partir disso definimos as duas personas centrais do sistema e levantamos, para cada uma, as necessidades funcionais mínimas, que então se converteram nos objetivos específicos do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um desses quatro processos foi modelado em notação BPMN antes da implementação. Essa modelagem definiu exatamente quais telas, campos e regras de validação seriam necessários — funcionando como a especificação funcional de toda a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combinação dessas tecnologias foi escolhida por reunir maturidade de mercado e suporte a desenvolvimento rápido, sem comprometer a robustez exigida por um sistema que lida com dados pessoais, geolocalização e transações financeiras.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modelo de dados é relacional, organizado em torno de seis entidades principais, que juntas permitem rastrear de ponta a ponta o ciclo de vida de um atendimento — da publicação da solicitação até a avaliação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cadastro já diferencia o perfil do usuário, alternando entre cliente e prestador no mesmo formulário. Ambos preenchem dados pessoais, e-mail único e uma senha com requisitos mínimos de segurança.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Depois do cadastro inicial, o prestador completa um perfil bem mais detalhado: especialidades, disponibilidade de dias e horários, duração média do atendimento, chave PIX para recebimento e envio de documento de identidade para validação. O cliente, de forma análoga, pode cadastrar múltiplos endereços de atendimento.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perfil tem um painel próprio, com navegação lateral para Início, Solicitações, Propostas, Agendamentos, Histórico e Perfil. O painel do prestador acrescenta uma aba de Métricas, com seus indicadores de desempenho.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cliente publica uma solicitação informando tipo de serviço, faixa de preço, endereço, data e horário preferidos, fotos opcionais e uma descrição do problema. Prestadores próximos enviam propostas; o cliente compara e aceita uma delas.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iniciar o atendimento, duas camadas de segurança são exigidas: um código numérico de confirmação de chegada e uma verificação facial do prestador. Em conformidade com a LGPD, apenas o resultado da verificação é armazenado, nunca a imagem capturada.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Durante a execução, o cliente acompanha atualizações em tempo real publicadas pelo prestador. Ao final, ele escolhe a forma de pagamento — PIX, cartão ou dinheiro — processado via Mercado Pago, e o prestador confirma o recebimento antes do serviço avançar para a avaliação.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Ao final do atendimento, cliente e prestador se avaliam mutuamente. Cada serviço concluído fica disponível no histórico com um relatório completo: datas, endereço, valor, forma de pagamento e os comentários e avaliações trocados entre as partes.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apoiar a gestão da atividade do prestador, calculamos indicadores de avaliação média, efetividade entre serviços recebidos e concluídos, e crescimento de participação nos ganhos, geral e por categoria de serviço — tudo reunido na aba de Métricas do painel.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estratégia de implantação separa front-end, back-end e banco de dados em provedores especializados, com deploy contínuo a partir do GitHub, reduzindo a complexidade operacional da plataforma.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Conseguimos validar, na prática, a viabilidade de uma solução digital para estruturar a contratação de serviços residenciais. Como próximos passos, destacamos um aplicativo móvel, um painel analítico mais completo, testes de carga e um canal de chat em tempo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Muito obrigado pela atenção! Ficamos à disposição para perguntas sobre o projeto, a arquitetura ou qualquer funcionalidade que vocês queiram ver com mais detalhe.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3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1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34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16.png"/><Relationship Id="rId4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011680"/>
            <a:ext cx="5943600" cy="5943600"/>
          </a:xfrm>
          <a:prstGeom prst="ellipse">
            <a:avLst/>
          </a:prstGeom>
          <a:solidFill>
            <a:srgbClr val="2E90F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2377440"/>
            <a:ext cx="5029200" cy="50292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pic>
        <p:nvPicPr>
          <p:cNvPr id="4" name="Image 0" descr="/home/claude/pptx_build/images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0" y="77724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7830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ServNow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097280" y="25420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digital de intermediação de serviços residenciais sob demanda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023360" y="3246120"/>
            <a:ext cx="1097280" cy="0"/>
          </a:xfrm>
          <a:prstGeom prst="line">
            <a:avLst/>
          </a:prstGeom>
          <a:noFill/>
          <a:ln w="25400">
            <a:solidFill>
              <a:srgbClr val="2E90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3429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Final do Projeto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0" y="4160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Fábio Garcia Martins   •   Gabriel Henrique Fernandes Vieira   •   Lucas Silva Borges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0" y="4434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 — PUC Minas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apresentar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499616"/>
            <a:ext cx="457200" cy="457200"/>
          </a:xfrm>
          <a:prstGeom prst="ellipse">
            <a:avLst/>
          </a:prstGeom>
          <a:solidFill>
            <a:srgbClr val="102236"/>
          </a:solidFill>
          <a:ln/>
        </p:spPr>
      </p:sp>
      <p:pic>
        <p:nvPicPr>
          <p:cNvPr id="7" name="Image 0" descr="/home/claude/pptx_build/icons/question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1623060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0876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do projeto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17320" y="17830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1520" y="2157984"/>
            <a:ext cx="457200" cy="457200"/>
          </a:xfrm>
          <a:prstGeom prst="ellipse">
            <a:avLst/>
          </a:prstGeom>
          <a:solidFill>
            <a:srgbClr val="102236"/>
          </a:solidFill>
          <a:ln/>
        </p:spPr>
      </p:sp>
      <p:pic>
        <p:nvPicPr>
          <p:cNvPr id="11" name="Image 1" descr="/home/claude/pptx_build/icons/search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" y="2281428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16712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Design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417320" y="2441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31520" y="2816352"/>
            <a:ext cx="457200" cy="457200"/>
          </a:xfrm>
          <a:prstGeom prst="ellipse">
            <a:avLst/>
          </a:prstGeom>
          <a:solidFill>
            <a:srgbClr val="102236"/>
          </a:solidFill>
          <a:ln/>
        </p:spPr>
      </p:sp>
      <p:pic>
        <p:nvPicPr>
          <p:cNvPr id="15" name="Image 2" descr="/home/claude/pptx_build/icons/sitemap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" y="2939796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282549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&amp; tecnologia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417320" y="309981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102236"/>
          </a:solidFill>
          <a:ln/>
        </p:spPr>
      </p:sp>
      <p:pic>
        <p:nvPicPr>
          <p:cNvPr id="19" name="Image 3" descr="/home/claude/pptx_build/icons/layerGroup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" y="3598164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348386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417320" y="375818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731520" y="4133088"/>
            <a:ext cx="457200" cy="457200"/>
          </a:xfrm>
          <a:prstGeom prst="ellipse">
            <a:avLst/>
          </a:prstGeom>
          <a:solidFill>
            <a:srgbClr val="102236"/>
          </a:solidFill>
          <a:ln/>
        </p:spPr>
      </p:sp>
      <p:pic>
        <p:nvPicPr>
          <p:cNvPr id="23" name="Image 4" descr="/home/claude/pptx_build/icons/flag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964" y="4256532"/>
            <a:ext cx="210312" cy="2103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17320" y="414223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&amp; próximos passos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1417320" y="44165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CONTEXTO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problema ainda resolvido de forma informal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496312" cy="2606040"/>
          </a:xfrm>
          <a:prstGeom prst="roundRect">
            <a:avLst>
              <a:gd name="adj" fmla="val 2930"/>
            </a:avLst>
          </a:prstGeom>
          <a:solidFill>
            <a:srgbClr val="102236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67612" y="1837944"/>
            <a:ext cx="658368" cy="658368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8" name="Image 0" descr="/home/claude/pptx_build/icons/comments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371" y="2015703"/>
            <a:ext cx="302849" cy="3028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6517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 informais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86384" y="3044952"/>
            <a:ext cx="2020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Indicações, grupos de redes sociais e aplicativos de </a:t>
            </a:r>
            <a:r>
              <a:rPr lang="en-US" sz="120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</a:t>
            </a:r>
            <a:r>
              <a:rPr lang="en-US" sz="120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20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nenhuma estrutura.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00984" y="1600200"/>
            <a:ext cx="2496312" cy="2606040"/>
          </a:xfrm>
          <a:prstGeom prst="roundRect">
            <a:avLst>
              <a:gd name="adj" fmla="val 2930"/>
            </a:avLst>
          </a:prstGeom>
          <a:solidFill>
            <a:srgbClr val="102236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19956" y="1837944"/>
            <a:ext cx="658368" cy="658368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3" name="Image 1" descr="/home/claude/pptx_build/icons/question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7715" y="2015703"/>
            <a:ext cx="302849" cy="3028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02152" y="26517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padronização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538728" y="3044952"/>
            <a:ext cx="2020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 e prazos variam de prestador para prestador, sem qualquer referência.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53328" y="1600200"/>
            <a:ext cx="2496312" cy="2606040"/>
          </a:xfrm>
          <a:prstGeom prst="roundRect">
            <a:avLst>
              <a:gd name="adj" fmla="val 2930"/>
            </a:avLst>
          </a:prstGeom>
          <a:solidFill>
            <a:srgbClr val="102236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72300" y="1837944"/>
            <a:ext cx="658368" cy="658368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8" name="Image 2" descr="/home/claude/pptx_build/icons/shield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059" y="2015703"/>
            <a:ext cx="302849" cy="3028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54496" y="26517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Insegurança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291072" y="3044952"/>
            <a:ext cx="2020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histórico, avaliação ou verificação de identidade de quem entra na sua casa.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clientes sem previsibilidade nem segurança, e prestadores dependentes quase só de indicação.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CONTEXTO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toda a jornada de contratação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794760" cy="3063240"/>
          </a:xfrm>
          <a:prstGeom prst="roundRect">
            <a:avLst>
              <a:gd name="adj" fmla="val 2388"/>
            </a:avLst>
          </a:prstGeom>
          <a:solidFill>
            <a:srgbClr val="102236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8" name="Image 0" descr="/home/claude/pptx_build/icons/userTie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3" y="1931213"/>
            <a:ext cx="252374" cy="2523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8105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cliente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2560320"/>
            <a:ext cx="31546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Praticidade</a:t>
            </a: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Publica o que precisa em minutos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</a:t>
            </a: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5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Transparentes</a:t>
            </a: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</a:t>
            </a: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propostas</a:t>
            </a: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comparáveis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35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</a:t>
            </a: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verificada antes do atendimento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800600" y="1554480"/>
            <a:ext cx="3794760" cy="3063240"/>
          </a:xfrm>
          <a:prstGeom prst="roundRect">
            <a:avLst>
              <a:gd name="adj" fmla="val 2388"/>
            </a:avLst>
          </a:prstGeom>
          <a:solidFill>
            <a:srgbClr val="102236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20640" y="1783080"/>
            <a:ext cx="548640" cy="54864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3" name="Image 1" descr="/home/claude/pptx_build/icons/tools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773" y="1931213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06440" y="181051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prestador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166360" y="2560320"/>
            <a:ext cx="31546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</a:t>
            </a: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5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uma demanda constante de clientes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</a:t>
            </a: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5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Através</a:t>
            </a: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agenda e dos atendimentos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financeira</a:t>
            </a: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5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Centralizada</a:t>
            </a: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 pagamento garantido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DISCOVERY &amp;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dor real ao mapeamento de necessidades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783080" cy="2331720"/>
          </a:xfrm>
          <a:prstGeom prst="roundRect">
            <a:avLst>
              <a:gd name="adj" fmla="val 4103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38428" y="1984248"/>
            <a:ext cx="603504" cy="603504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8" name="Image 0" descr="/home/claude/pptx_build/icons/search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374" y="2147194"/>
            <a:ext cx="277612" cy="2776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18562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26974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13232" y="3044952"/>
            <a:ext cx="1453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Mapeamos a jornada atual de clientes e prestadores no </a:t>
            </a:r>
            <a:r>
              <a:rPr lang="en-US" sz="108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08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8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2313432" y="2825496"/>
            <a:ext cx="237744" cy="237744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3" name="Image 1" descr="/home/claude/pptx_build/icons/arrowRight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623" y="2889687"/>
            <a:ext cx="109362" cy="10936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532888" y="1783080"/>
            <a:ext cx="1783080" cy="2331720"/>
          </a:xfrm>
          <a:prstGeom prst="roundRect">
            <a:avLst>
              <a:gd name="adj" fmla="val 4103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122676" y="1984248"/>
            <a:ext cx="603504" cy="603504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6" name="Image 2" descr="/home/claude/pptx_build/icons/users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5622" y="2147194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58768" y="18562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670048" y="26974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2697480" y="3044952"/>
            <a:ext cx="1453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os dois perfis centrais: Cliente e Prestador de serviço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4297680" y="2825496"/>
            <a:ext cx="237744" cy="237744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1" name="Image 3" descr="/home/claude/pptx_build/icons/arrowRight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871" y="2889687"/>
            <a:ext cx="109362" cy="10936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517136" y="1783080"/>
            <a:ext cx="1783080" cy="2331720"/>
          </a:xfrm>
          <a:prstGeom prst="roundRect">
            <a:avLst>
              <a:gd name="adj" fmla="val 4103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106924" y="1984248"/>
            <a:ext cx="603504" cy="603504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4" name="Image 4" descr="/home/claude/pptx_build/icons/clipboardList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9870" y="2147194"/>
            <a:ext cx="277612" cy="27761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843016" y="18562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654296" y="26974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Necessidades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681728" y="3044952"/>
            <a:ext cx="1453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Levantamos requisitos funcionais mínimos para cada perfil</a:t>
            </a:r>
            <a:endParaRPr lang="en-US" sz="1080" dirty="0"/>
          </a:p>
        </p:txBody>
      </p:sp>
      <p:sp>
        <p:nvSpPr>
          <p:cNvPr id="28" name="Shape 21"/>
          <p:cNvSpPr/>
          <p:nvPr/>
        </p:nvSpPr>
        <p:spPr>
          <a:xfrm>
            <a:off x="6281928" y="2825496"/>
            <a:ext cx="237744" cy="237744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9" name="Image 5" descr="/home/claude/pptx_build/icons/arrowRight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6119" y="2889687"/>
            <a:ext cx="109362" cy="109362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501384" y="1783080"/>
            <a:ext cx="1783080" cy="2331720"/>
          </a:xfrm>
          <a:prstGeom prst="roundRect">
            <a:avLst>
              <a:gd name="adj" fmla="val 4103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7091172" y="1984248"/>
            <a:ext cx="603504" cy="603504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32" name="Image 6" descr="/home/claude/pptx_build/icons/bullseye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4118" y="2147194"/>
            <a:ext cx="277612" cy="27761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827264" y="18562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6638544" y="26974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50" dirty="0"/>
          </a:p>
        </p:txBody>
      </p:sp>
      <p:sp>
        <p:nvSpPr>
          <p:cNvPr id="35" name="Text 26"/>
          <p:cNvSpPr/>
          <p:nvPr/>
        </p:nvSpPr>
        <p:spPr>
          <a:xfrm>
            <a:off x="6665976" y="3044952"/>
            <a:ext cx="1453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Convertemos as necessidades em objetivos específicos do produto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DISCOVERY &amp;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modelados antes de qualquer linha de código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6021" y="1088136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7" name="Shape 5"/>
          <p:cNvSpPr/>
          <p:nvPr/>
        </p:nvSpPr>
        <p:spPr>
          <a:xfrm>
            <a:off x="731520" y="1364338"/>
            <a:ext cx="512064" cy="512064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8" name="Image 0" descr="/home/claude/pptx_build/icons/idCard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778" y="1501238"/>
            <a:ext cx="235549" cy="2355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26464" y="1477016"/>
            <a:ext cx="914400" cy="399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Clientes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18981" y="1095922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21327" y="1310594"/>
            <a:ext cx="512064" cy="512064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12" name="Image 1" descr="/home/claude/pptx_build/icons/tools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3682" y="1464875"/>
            <a:ext cx="235549" cy="2355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46704" y="1429154"/>
            <a:ext cx="914400" cy="395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Prestadores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39221" y="1088136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57332" y="1323464"/>
            <a:ext cx="512064" cy="512064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6" name="Image 2" descr="/home/claude/pptx_build/icons/fileAlt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390" y="1458208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40096" y="1481328"/>
            <a:ext cx="914400" cy="395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 de Serviço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77784" y="1092708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9" name="Shape 14"/>
          <p:cNvSpPr/>
          <p:nvPr/>
        </p:nvSpPr>
        <p:spPr>
          <a:xfrm>
            <a:off x="6563342" y="1310594"/>
            <a:ext cx="512064" cy="512064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20" name="Image 3" descr="/home/claude/pptx_build/icons/route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435" y="1409273"/>
            <a:ext cx="235549" cy="23554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60964" y="1373798"/>
            <a:ext cx="1109044" cy="45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do Serviço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8984" y="2329223"/>
            <a:ext cx="8859392" cy="2380249"/>
          </a:xfrm>
          <a:prstGeom prst="roundRect">
            <a:avLst>
              <a:gd name="adj" fmla="val 3721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diagrama BPMN do </a:t>
            </a:r>
            <a:r>
              <a:rPr lang="en-US" sz="1050" i="1" dirty="0" err="1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r>
              <a:rPr lang="en-US" sz="1050" i="1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i="1" dirty="0" err="1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</a:t>
            </a:r>
            <a:r>
              <a:rPr lang="en-US" sz="1050" i="1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i="1" dirty="0" err="1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</a:t>
            </a:r>
            <a:endParaRPr lang="en-US" sz="1050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EF2C6965-0CF2-4314-A8EB-C73259D4DF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624" y="2406975"/>
            <a:ext cx="8650912" cy="21554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ARQUITETURA &amp; TECNOLOGIA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por camada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517904" cy="3063240"/>
          </a:xfrm>
          <a:prstGeom prst="roundRect">
            <a:avLst>
              <a:gd name="adj" fmla="val 4819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97280" y="2139696"/>
            <a:ext cx="420624" cy="420624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9" name="Image 0" descr="/home/claude/pptx_build/icons/reac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848" y="2253264"/>
            <a:ext cx="193487" cy="1934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3504" y="2596896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097280" y="2980944"/>
            <a:ext cx="420624" cy="420624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2" name="Image 1" descr="/home/claude/pptx_build/icons/typescrip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848" y="3094512"/>
            <a:ext cx="193487" cy="1934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3504" y="3438144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1097280" y="3822192"/>
            <a:ext cx="420624" cy="420624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5" name="Image 2" descr="/home/claude/pptx_build/icons/tailwin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0848" y="3935760"/>
            <a:ext cx="193487" cy="19348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3504" y="427939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2176272" y="1508760"/>
            <a:ext cx="1517904" cy="3063240"/>
          </a:xfrm>
          <a:prstGeom prst="roundRect">
            <a:avLst>
              <a:gd name="adj" fmla="val 4819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2249424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2724912" y="2139696"/>
            <a:ext cx="420624" cy="420624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0" name="Image 3" descr="/home/claude/pptx_build/icons/java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8480" y="2253264"/>
            <a:ext cx="193487" cy="19348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231136" y="2596896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2724912" y="2980944"/>
            <a:ext cx="420624" cy="420624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3" name="Image 4" descr="/home/claude/pptx_build/icons/spring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8480" y="3094512"/>
            <a:ext cx="193487" cy="19348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231136" y="3438144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2724912" y="3822192"/>
            <a:ext cx="420624" cy="420624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6" name="Image 5" descr="/home/claude/pptx_build/icons/jw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8480" y="3935760"/>
            <a:ext cx="193487" cy="193487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231136" y="427939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3803904" y="1508760"/>
            <a:ext cx="1517904" cy="3063240"/>
          </a:xfrm>
          <a:prstGeom prst="roundRect">
            <a:avLst>
              <a:gd name="adj" fmla="val 4819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1"/>
          <p:cNvSpPr/>
          <p:nvPr/>
        </p:nvSpPr>
        <p:spPr>
          <a:xfrm>
            <a:off x="3877056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4352544" y="2139696"/>
            <a:ext cx="420624" cy="420624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31" name="Image 6" descr="/home/claude/pptx_build/icons/postgresql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6112" y="2253264"/>
            <a:ext cx="193487" cy="193487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3858768" y="2596896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4352544" y="2980944"/>
            <a:ext cx="420624" cy="420624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34" name="Image 7" descr="/home/claude/pptx_build/icons/docker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6112" y="3094512"/>
            <a:ext cx="193487" cy="193487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3858768" y="3438144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36" name="Shape 26"/>
          <p:cNvSpPr/>
          <p:nvPr/>
        </p:nvSpPr>
        <p:spPr>
          <a:xfrm>
            <a:off x="5413248" y="1508760"/>
            <a:ext cx="1517904" cy="3063240"/>
          </a:xfrm>
          <a:prstGeom prst="roundRect">
            <a:avLst>
              <a:gd name="adj" fmla="val 4819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37" name="Text 27"/>
          <p:cNvSpPr/>
          <p:nvPr/>
        </p:nvSpPr>
        <p:spPr>
          <a:xfrm>
            <a:off x="5504688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</a:t>
            </a:r>
            <a:endParaRPr lang="en-US" sz="1250" dirty="0"/>
          </a:p>
        </p:txBody>
      </p:sp>
      <p:sp>
        <p:nvSpPr>
          <p:cNvPr id="38" name="Shape 28"/>
          <p:cNvSpPr/>
          <p:nvPr/>
        </p:nvSpPr>
        <p:spPr>
          <a:xfrm>
            <a:off x="5980176" y="2139696"/>
            <a:ext cx="420624" cy="420624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39" name="Image 8" descr="/home/claude/pptx_build/icons/creditCard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3744" y="2253264"/>
            <a:ext cx="193487" cy="193487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486400" y="2596896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Pago </a:t>
            </a:r>
            <a:endParaRPr lang="en-US" sz="900" dirty="0"/>
          </a:p>
        </p:txBody>
      </p:sp>
      <p:sp>
        <p:nvSpPr>
          <p:cNvPr id="41" name="Shape 30"/>
          <p:cNvSpPr/>
          <p:nvPr/>
        </p:nvSpPr>
        <p:spPr>
          <a:xfrm>
            <a:off x="5980176" y="2980944"/>
            <a:ext cx="420624" cy="420624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42" name="Image 9" descr="/home/claude/pptx_build/icons/camera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3744" y="3094512"/>
            <a:ext cx="193487" cy="193487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486400" y="3438144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facial</a:t>
            </a:r>
            <a:endParaRPr lang="en-US" sz="900" dirty="0"/>
          </a:p>
        </p:txBody>
      </p:sp>
      <p:sp>
        <p:nvSpPr>
          <p:cNvPr id="44" name="Shape 32"/>
          <p:cNvSpPr/>
          <p:nvPr/>
        </p:nvSpPr>
        <p:spPr>
          <a:xfrm>
            <a:off x="5980176" y="3822192"/>
            <a:ext cx="420624" cy="420624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45" name="Image 10" descr="/home/claude/pptx_build/icons/mapMarker_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3744" y="3935760"/>
            <a:ext cx="193487" cy="193487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5486400" y="4279392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Geolocalização</a:t>
            </a:r>
            <a:endParaRPr lang="en-US" sz="900" dirty="0"/>
          </a:p>
        </p:txBody>
      </p:sp>
      <p:sp>
        <p:nvSpPr>
          <p:cNvPr id="47" name="Shape 34"/>
          <p:cNvSpPr/>
          <p:nvPr/>
        </p:nvSpPr>
        <p:spPr>
          <a:xfrm>
            <a:off x="7059168" y="1508760"/>
            <a:ext cx="1517904" cy="3063240"/>
          </a:xfrm>
          <a:prstGeom prst="roundRect">
            <a:avLst>
              <a:gd name="adj" fmla="val 4819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8" name="Text 35"/>
          <p:cNvSpPr/>
          <p:nvPr/>
        </p:nvSpPr>
        <p:spPr>
          <a:xfrm>
            <a:off x="713232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endParaRPr lang="en-US" sz="1250" dirty="0"/>
          </a:p>
        </p:txBody>
      </p:sp>
      <p:sp>
        <p:nvSpPr>
          <p:cNvPr id="49" name="Shape 36"/>
          <p:cNvSpPr/>
          <p:nvPr/>
        </p:nvSpPr>
        <p:spPr>
          <a:xfrm>
            <a:off x="7607808" y="2139696"/>
            <a:ext cx="420624" cy="420624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50" name="Image 11" descr="/home/claude/pptx_build/icons/cloud_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21376" y="2253264"/>
            <a:ext cx="193487" cy="193487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7114032" y="2596896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/ Render / Supabase</a:t>
            </a:r>
            <a:endParaRPr lang="en-US" sz="900" dirty="0"/>
          </a:p>
        </p:txBody>
      </p:sp>
      <p:sp>
        <p:nvSpPr>
          <p:cNvPr id="52" name="Shape 38"/>
          <p:cNvSpPr/>
          <p:nvPr/>
        </p:nvSpPr>
        <p:spPr>
          <a:xfrm>
            <a:off x="7607808" y="2980944"/>
            <a:ext cx="420624" cy="420624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53" name="Image 12" descr="/home/claude/pptx_build/icons/github_whi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21376" y="3094512"/>
            <a:ext cx="193487" cy="193487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7114032" y="3438144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ARQUITETURA &amp; TECNOLOGIA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centrais do domínio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931920" cy="896112"/>
          </a:xfrm>
          <a:prstGeom prst="roundRect">
            <a:avLst>
              <a:gd name="adj" fmla="val 8163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3816" y="1719072"/>
            <a:ext cx="475488" cy="475488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8" name="Image 0" descr="/home/claude/pptx_build/icons/user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198" y="1847454"/>
            <a:ext cx="218724" cy="2187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618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417320" y="189280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ou prestador, com endereço, geolocalização e especialidades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508760"/>
            <a:ext cx="3931920" cy="896112"/>
          </a:xfrm>
          <a:prstGeom prst="roundRect">
            <a:avLst>
              <a:gd name="adj" fmla="val 8163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28616" y="1719072"/>
            <a:ext cx="475488" cy="475488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3" name="Image 1" descr="/home/claude/pptx_build/icons/fileAlt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998" y="1847454"/>
            <a:ext cx="218724" cy="2187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1618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 de Serviço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532120" y="189280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publicado pelo cliente, com tipo, descrição e fotos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2514600"/>
            <a:ext cx="3931920" cy="896112"/>
          </a:xfrm>
          <a:prstGeom prst="roundRect">
            <a:avLst>
              <a:gd name="adj" fmla="val 8163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3816" y="2724912"/>
            <a:ext cx="475488" cy="475488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8" name="Image 2" descr="/home/claude/pptx_build/icons/handshak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198" y="2853294"/>
            <a:ext cx="218724" cy="2187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2624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Serviço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417320" y="28986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 mensagem enviados por um prestador a uma solicitação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663440" y="2514600"/>
            <a:ext cx="3931920" cy="896112"/>
          </a:xfrm>
          <a:prstGeom prst="roundRect">
            <a:avLst>
              <a:gd name="adj" fmla="val 8163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28616" y="2724912"/>
            <a:ext cx="475488" cy="475488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3" name="Image 3" descr="/home/claude/pptx_build/icons/route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998" y="2853294"/>
            <a:ext cx="218724" cy="2187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32120" y="2624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 Serviço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5532120" y="28986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o ciclo de execução, da chegada à conclusão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3520440"/>
            <a:ext cx="3931920" cy="896112"/>
          </a:xfrm>
          <a:prstGeom prst="roundRect">
            <a:avLst>
              <a:gd name="adj" fmla="val 8163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13816" y="3730752"/>
            <a:ext cx="475488" cy="475488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8" name="Image 4" descr="/home/claude/pptx_build/icons/camera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198" y="3859134"/>
            <a:ext cx="218724" cy="21872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17320" y="3630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Facial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1417320" y="39044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da validação de identidade, sem reter a imagem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4663440" y="3520440"/>
            <a:ext cx="3931920" cy="896112"/>
          </a:xfrm>
          <a:prstGeom prst="roundRect">
            <a:avLst>
              <a:gd name="adj" fmla="val 8163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928616" y="3730752"/>
            <a:ext cx="475488" cy="475488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33" name="Image 5" descr="/home/claude/pptx_build/icons/bell_cy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6998" y="3859134"/>
            <a:ext cx="218724" cy="21872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532120" y="3630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5532120" y="39044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do sistema direcionados ao usuário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FUNCIONALIDADES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diferenciado por perfil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distingue, desde o início, Cliente e </a:t>
            </a:r>
            <a:r>
              <a:rPr lang="en-US" sz="135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Prestador</a:t>
            </a: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5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trazendo</a:t>
            </a: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</a:t>
            </a: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</a:t>
            </a: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35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r>
              <a:rPr lang="en-US" sz="13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1965960"/>
            <a:ext cx="7592932" cy="2377440"/>
          </a:xfrm>
          <a:prstGeom prst="roundRect">
            <a:avLst>
              <a:gd name="adj" fmla="val 3077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8" name="Image 0" descr="/home/claude/pptx_build/images/telacadastro_nov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101" y="2053124"/>
            <a:ext cx="3722914" cy="20848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4074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com alternância entre os perfis de Cliente e Prestador</a:t>
            </a:r>
            <a:endParaRPr lang="en-US" sz="11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4DB20186-E495-8564-702B-ED999E06C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566" y="2053124"/>
            <a:ext cx="3722914" cy="20848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FUNCIONALIDADES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perfil completo para cada profissional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/home/claude/pptx_build/images/configprestador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020" y="1517904"/>
            <a:ext cx="1827280" cy="29535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91840" y="137160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9" name="Image 1" descr="/home/claude/pptx_build/images/configprestador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4490" y="1517904"/>
            <a:ext cx="1540740" cy="29535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6451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 e endereço do prestador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291840" y="46451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Especialidades, disponibilidade e PIX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309360" y="1536192"/>
            <a:ext cx="457200" cy="457200"/>
          </a:xfrm>
          <a:prstGeom prst="ellipse">
            <a:avLst/>
          </a:prstGeom>
          <a:solidFill>
            <a:srgbClr val="0D1D30"/>
          </a:solidFill>
          <a:ln/>
        </p:spPr>
      </p:sp>
      <p:pic>
        <p:nvPicPr>
          <p:cNvPr id="13" name="Image 2" descr="/home/claude/pptx_build/icons/tools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804" y="165963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1508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Especialidades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989320" y="20391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 os tipos de serviço que realiza, entre elétrica, hidráulica, pintura e outros.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309360" y="2615184"/>
            <a:ext cx="457200" cy="457200"/>
          </a:xfrm>
          <a:prstGeom prst="ellipse">
            <a:avLst/>
          </a:prstGeom>
          <a:solidFill>
            <a:srgbClr val="0D1D30"/>
          </a:solidFill>
          <a:ln/>
        </p:spPr>
      </p:sp>
      <p:pic>
        <p:nvPicPr>
          <p:cNvPr id="17" name="Image 3" descr="/home/claude/pptx_build/icons/clock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804" y="2738628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25877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989320" y="311810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dias da semana, horário de atendimento e duração média de cada serviço.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309360" y="3694176"/>
            <a:ext cx="457200" cy="457200"/>
          </a:xfrm>
          <a:prstGeom prst="ellipse">
            <a:avLst/>
          </a:prstGeom>
          <a:solidFill>
            <a:srgbClr val="0D1D30"/>
          </a:solidFill>
          <a:ln/>
        </p:spPr>
      </p:sp>
      <p:pic>
        <p:nvPicPr>
          <p:cNvPr id="21" name="Image 4" descr="/home/claude/pptx_build/icons/wallet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2804" y="3817620"/>
            <a:ext cx="210312" cy="2103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03720" y="366674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PIX &amp; documento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989320" y="41970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 a chave PIX de recebimento e envia documento de identidade para validação.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FUNCIONALIDADES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painel sob medida para cada perfil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90625"/>
            <a:ext cx="8304848" cy="1598295"/>
          </a:xfrm>
          <a:prstGeom prst="roundRect">
            <a:avLst>
              <a:gd name="adj" fmla="val 5333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/home/claude/pptx_build/images/painel_cliente_nov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474" y="1271589"/>
            <a:ext cx="2928539" cy="13710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80720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cliente — Início, Criar solicitação, Solicitações, Propostas, Agendamentos, Histórico e Perfil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5988" y="3138487"/>
            <a:ext cx="8271510" cy="1552385"/>
          </a:xfrm>
          <a:prstGeom prst="roundRect">
            <a:avLst>
              <a:gd name="adj" fmla="val 5333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0" name="Image 1" descr="/home/claude/pptx_build/images/painel_prestador_novo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7474" y="3227832"/>
            <a:ext cx="2928539" cy="12291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447141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prestador — mesma navegação, acrescida da aba de Métricas de desempenho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FUNCIONALIDADES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pedido à negociação de propostas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617720" cy="2606040"/>
          </a:xfrm>
          <a:prstGeom prst="roundRect">
            <a:avLst>
              <a:gd name="adj" fmla="val 2807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/home/claude/pptx_build/images/criarsolicit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902336"/>
            <a:ext cx="4325112" cy="172744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49239" y="1463040"/>
            <a:ext cx="3570923" cy="2606040"/>
          </a:xfrm>
          <a:prstGeom prst="roundRect">
            <a:avLst>
              <a:gd name="adj" fmla="val 2807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9" name="Image 1" descr="/home/claude/pptx_build/images/propostas_clientes_novo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7375" y="1902335"/>
            <a:ext cx="3404736" cy="17981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16052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solicitação — tipo de serviço, faixa de preço, endereço, data/horário preferidos e descrição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349240" y="41605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Propostas recebidas, comparáveis lado a lado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FUNCIONALIDADES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no momento do atendimento presencial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2468880" cy="3200400"/>
          </a:xfrm>
          <a:prstGeom prst="roundRect">
            <a:avLst>
              <a:gd name="adj" fmla="val 2963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/home/claude/pptx_build/images/codigo_cliente_nov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2348162"/>
            <a:ext cx="2176272" cy="12472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26480" y="4617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confirmação exibido ao cliente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0D1D30"/>
          </a:solidFill>
          <a:ln/>
        </p:spPr>
      </p:sp>
      <p:pic>
        <p:nvPicPr>
          <p:cNvPr id="10" name="Image 1" descr="/home/claude/pptx_build/icons/key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3" y="1702613"/>
            <a:ext cx="252374" cy="252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15544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numérico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417320" y="184708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automaticamente, com validade de 30 minutos, informado pelo cliente ao prestador na chegada.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2606040"/>
            <a:ext cx="548640" cy="548640"/>
          </a:xfrm>
          <a:prstGeom prst="ellipse">
            <a:avLst/>
          </a:prstGeom>
          <a:solidFill>
            <a:srgbClr val="0D1D30"/>
          </a:solidFill>
          <a:ln/>
        </p:spPr>
      </p:sp>
      <p:pic>
        <p:nvPicPr>
          <p:cNvPr id="14" name="Image 2" descr="/home/claude/pptx_build/icons/camera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3" y="2754173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26060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facial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417320" y="289864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uma captura em tempo real com a foto de perfil cadastrada do prestador.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" y="3657600"/>
            <a:ext cx="548640" cy="548640"/>
          </a:xfrm>
          <a:prstGeom prst="ellipse">
            <a:avLst/>
          </a:prstGeom>
          <a:solidFill>
            <a:srgbClr val="0D1D30"/>
          </a:solidFill>
          <a:ln/>
        </p:spPr>
      </p:sp>
      <p:pic>
        <p:nvPicPr>
          <p:cNvPr id="18" name="Image 3" descr="/home/claude/pptx_build/icons/lock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13" y="3805733"/>
            <a:ext cx="252374" cy="2523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36576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(LGPD)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417320" y="395020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o resultado da verificação é armazenado — a imagem capturada nunca é retida.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FUNCIONALIDADES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início da visita ao pagamento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89320" y="14173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/home/claude/pptx_build/images/acompanhamento_cliente_nov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2419094"/>
            <a:ext cx="2313432" cy="12882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89320" y="47365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em tempo real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0D1D30"/>
          </a:solidFill>
          <a:ln/>
        </p:spPr>
      </p:sp>
      <p:pic>
        <p:nvPicPr>
          <p:cNvPr id="10" name="Image 1" descr="/home/claude/pptx_build/icons/clock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3" y="1702613"/>
            <a:ext cx="252374" cy="252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15544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Atualizações em tempo real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417320" y="184708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prestador publica fotos e descrições do progresso, visíveis ao cliente a cada etapa.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2606040"/>
            <a:ext cx="548640" cy="548640"/>
          </a:xfrm>
          <a:prstGeom prst="ellipse">
            <a:avLst/>
          </a:prstGeom>
          <a:solidFill>
            <a:srgbClr val="0D1D30"/>
          </a:solidFill>
          <a:ln/>
        </p:spPr>
      </p:sp>
      <p:pic>
        <p:nvPicPr>
          <p:cNvPr id="14" name="Image 2" descr="/home/claude/pptx_build/icons/creditCard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3" y="2754173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26060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integrado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417320" y="289864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final, o cliente escolhe entre PIX, cartão de crédito, débito ou dinheiro, via Mercado Pago.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" y="3657600"/>
            <a:ext cx="548640" cy="548640"/>
          </a:xfrm>
          <a:prstGeom prst="ellipse">
            <a:avLst/>
          </a:prstGeom>
          <a:solidFill>
            <a:srgbClr val="0D1D30"/>
          </a:solidFill>
          <a:ln/>
        </p:spPr>
      </p:sp>
      <p:pic>
        <p:nvPicPr>
          <p:cNvPr id="18" name="Image 3" descr="/home/claude/pptx_build/icons/checkCircle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13" y="3805733"/>
            <a:ext cx="252374" cy="2523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3657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em duas pontas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417320" y="395020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Prestador confirma o recebimento; o ciclo só avança após o pagamento ser concluído.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FUNCIONALIDADES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mútua e histórico com relatório completo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743200" cy="3154680"/>
          </a:xfrm>
          <a:prstGeom prst="roundRect">
            <a:avLst>
              <a:gd name="adj" fmla="val 2667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/home/claude/pptx_build/images/avali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3" y="1967058"/>
            <a:ext cx="2506523" cy="16717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20440" y="1371600"/>
            <a:ext cx="2331720" cy="3154680"/>
          </a:xfrm>
          <a:prstGeom prst="roundRect">
            <a:avLst>
              <a:gd name="adj" fmla="val 3137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48640" y="4572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mútua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520440" y="45720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completo no histórico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419088" y="1828800"/>
            <a:ext cx="512064" cy="512064"/>
          </a:xfrm>
          <a:prstGeom prst="ellipse">
            <a:avLst/>
          </a:prstGeom>
          <a:solidFill>
            <a:srgbClr val="0D1D30"/>
          </a:solidFill>
          <a:ln/>
        </p:spPr>
      </p:sp>
      <p:pic>
        <p:nvPicPr>
          <p:cNvPr id="13" name="Image 2" descr="/home/claude/pptx_build/icons/star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345" y="1967057"/>
            <a:ext cx="235549" cy="2355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35040" y="23957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mútua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989320" y="2688336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 prestador se avaliam com nota de 1 a 5 estrelas e comentário opcional.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419088" y="3200400"/>
            <a:ext cx="512064" cy="512064"/>
          </a:xfrm>
          <a:prstGeom prst="ellipse">
            <a:avLst/>
          </a:prstGeom>
          <a:solidFill>
            <a:srgbClr val="0D1D30"/>
          </a:solidFill>
          <a:ln/>
        </p:spPr>
      </p:sp>
      <p:pic>
        <p:nvPicPr>
          <p:cNvPr id="17" name="Image 3" descr="/home/claude/pptx_build/icons/fileAlt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7345" y="3338657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35040" y="37673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por serviço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989320" y="4059936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 datas, endereço, valor, forma de pagamento e avaliações trocadas.</a:t>
            </a:r>
            <a:endParaRPr lang="en-US" sz="100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3784611D-4F6E-BACF-99F1-FDD9818580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1574297"/>
            <a:ext cx="2117453" cy="27691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RESULTADOS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que orientam o prestador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54480" y="1371600"/>
            <a:ext cx="6035040" cy="2423160"/>
          </a:xfrm>
          <a:prstGeom prst="roundRect">
            <a:avLst>
              <a:gd name="adj" fmla="val 3019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/home/claude/pptx_build/images/metric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126" y="1517904"/>
            <a:ext cx="4709747" cy="21305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8130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real de métricas do </a:t>
            </a:r>
            <a:r>
              <a:rPr lang="en-US" sz="1050" i="1" dirty="0" err="1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prestador</a:t>
            </a:r>
            <a:r>
              <a:rPr lang="en-US" sz="1050" i="1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</a:t>
            </a:r>
            <a:r>
              <a:rPr lang="en-US" sz="1050" i="1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efetividade e participação na plataforma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4133088"/>
            <a:ext cx="1828800" cy="621792"/>
          </a:xfrm>
          <a:prstGeom prst="roundRect">
            <a:avLst>
              <a:gd name="adj" fmla="val 11765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41879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4,0+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94360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média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624328" y="4133088"/>
            <a:ext cx="1828800" cy="621792"/>
          </a:xfrm>
          <a:prstGeom prst="roundRect">
            <a:avLst>
              <a:gd name="adj" fmla="val 11765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624328" y="41879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670048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Efetividade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00016" y="4133088"/>
            <a:ext cx="1828800" cy="621792"/>
          </a:xfrm>
          <a:prstGeom prst="roundRect">
            <a:avLst>
              <a:gd name="adj" fmla="val 11765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00016" y="41879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5%+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4745736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mensal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775704" y="4133088"/>
            <a:ext cx="1828800" cy="621792"/>
          </a:xfrm>
          <a:prstGeom prst="roundRect">
            <a:avLst>
              <a:gd name="adj" fmla="val 11765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775704" y="41879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10%+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6821424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/ categoria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RESULTADOS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 em nuvem, componentes independentes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63624" y="2139696"/>
            <a:ext cx="530352" cy="530352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8" name="Image 0" descr="/home/claude/pptx_build/icons/rocket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819" y="2282891"/>
            <a:ext cx="243962" cy="2439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8072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3063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(React)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749040" y="196596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35424" y="2139696"/>
            <a:ext cx="530352" cy="530352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3" name="Image 1" descr="/home/claude/pptx_build/icons/docker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619" y="2282891"/>
            <a:ext cx="243962" cy="2439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28072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749040" y="3063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(contêiner)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720840" y="196596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507224" y="2139696"/>
            <a:ext cx="530352" cy="530352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8" name="Image 2" descr="/home/claude/pptx_build/icons/databas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0419" y="2282891"/>
            <a:ext cx="243962" cy="2439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20840" y="28072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720840" y="3063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(PostgreSQL)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2880360" y="2651760"/>
            <a:ext cx="868680" cy="0"/>
          </a:xfrm>
          <a:prstGeom prst="line">
            <a:avLst/>
          </a:prstGeom>
          <a:noFill/>
          <a:ln w="22225">
            <a:solidFill>
              <a:srgbClr val="2E90FA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5852160" y="2651760"/>
            <a:ext cx="868680" cy="0"/>
          </a:xfrm>
          <a:prstGeom prst="line">
            <a:avLst/>
          </a:prstGeom>
          <a:noFill/>
          <a:ln w="22225">
            <a:solidFill>
              <a:srgbClr val="2E90FA"/>
            </a:solidFill>
            <a:prstDash val="solid"/>
            <a:tailEnd type="triangle"/>
          </a:ln>
        </p:spPr>
      </p:sp>
      <p:sp>
        <p:nvSpPr>
          <p:cNvPr id="23" name="Text 18"/>
          <p:cNvSpPr/>
          <p:nvPr/>
        </p:nvSpPr>
        <p:spPr>
          <a:xfrm>
            <a:off x="777240" y="365760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camada hospedada e escalada de forma independente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contínuo a cada atualização no repositório GitHub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local padronizado com Docker Compose e Nginx para toda a equipe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RESULTADOS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solução funcional, de ponta a ponta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entregamos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3337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completo: solicitação, proposta, execução, pagamento e avaliação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de identidade e conformidade com a LGPD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 nos principais serviços de domínio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hospedada e funcional em ambiente de produção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0D1D30"/>
          </a:solidFill>
          <a:ln w="9525">
            <a:solidFill>
              <a:srgbClr val="1E3A5F"/>
            </a:solidFill>
            <a:prstDash val="solid"/>
          </a:ln>
          <a:effectLst>
            <a:outerShdw blurRad="1016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2148840"/>
            <a:ext cx="3337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móvel nativo, com notificações push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analítico de gestão da plataforma como um todo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250" dirty="0">
                <a:solidFill>
                  <a:srgbClr val="8D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em tempo real entre cliente e prestador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E90FA">
              <a:alpha val="1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2286000"/>
            <a:ext cx="5486400" cy="54864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pic>
        <p:nvPicPr>
          <p:cNvPr id="4" name="Image 0" descr="/home/claude/pptx_build/images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0515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96596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0" y="2697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023360" y="3383280"/>
            <a:ext cx="1097280" cy="0"/>
          </a:xfrm>
          <a:prstGeom prst="line">
            <a:avLst/>
          </a:prstGeom>
          <a:noFill/>
          <a:ln w="25400">
            <a:solidFill>
              <a:srgbClr val="2E90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3611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Fábio Garcia Martins   •   Gabriel Henrique Fernandes Vieira   •   Lucas Silva Borges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1810</Words>
  <Application>Microsoft Office PowerPoint</Application>
  <PresentationFormat>Apresentação na tela (16:9)</PresentationFormat>
  <Paragraphs>242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ServNow — Apresentação Final do Projeto</dc:title>
  <dc:subject>PptxGenJS Presentation</dc:subject>
  <dc:creator>Fábio Garcia Martins, Gabriel Henrique Fernandes Vieira, Lucas Silva Borges</dc:creator>
  <cp:lastModifiedBy>Fábio Garcia</cp:lastModifiedBy>
  <cp:revision>5</cp:revision>
  <dcterms:created xsi:type="dcterms:W3CDTF">2026-06-28T23:04:15Z</dcterms:created>
  <dcterms:modified xsi:type="dcterms:W3CDTF">2026-06-29T16:22:18Z</dcterms:modified>
</cp:coreProperties>
</file>